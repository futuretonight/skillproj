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840480" cy="41148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59E0B"/>
                </a:solidFill>
              </a:defRPr>
            </a:pPr>
            <a:r>
              <a:t>SkillBridge AI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AI-Powered Skill Gap Analysis &amp; Employment Outcome Tracking Platform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Bridging Education, Personalized Skilling, Measurable Capability Growth, and Verified Employment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01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Skill Gap Diagnosis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NLP &amp; weighted role match vs live market expectations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11480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02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Personalized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Sequential chronological learning rather than generic bundles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03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Pre/Post Testing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Standardized diagnostic delta testing (+Δ% capability gain)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11480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04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Longitudinal Tracking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Post-training job relevance, starting salary &amp;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Core Problem Statement &amp; 5-Question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338CA"/>
                </a:solidFill>
              </a:defRPr>
            </a:pPr>
            <a:r>
              <a:t>The Traditional Skilling Blind Spot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Institutions commonly state: '10,000 students completed a Python course.'</a:t>
            </a:r>
            <a:br/>
            <a:r>
              <a:t>Yet they fail to answer: Did candidates get relevant jobs? Did their skills genuinely improve?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1. Unclear Role Requirements: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Learners know they want tech careers, but don't know the exact skill combo for Data Analyst vs ML vs DevOps.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2. Generic Course Dumping: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Students with different baselines get given the exact same 20 courses without personalization.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3. Certificate != Capability: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Completion certificates don't prove measurable skill mastery or employability.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4. Disconnected Outcomes: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No feedback loop tracking post-training salary, role relevance, and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338CA"/>
                </a:solidFill>
              </a:defRPr>
            </a:pPr>
            <a:r>
              <a:t>The 5-Question Core Framework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Q1. What skills does the candidate currently have?</a:t>
            </a:r>
          </a:p>
          <a:p>
            <a:pPr>
              <a:defRPr sz="1100">
                <a:solidFill>
                  <a:srgbClr val="4338CA"/>
                </a:solidFill>
              </a:defRPr>
            </a:pPr>
            <a:r>
              <a:t>Evaluated via NLP Resume Parser &amp; Diagnostic Baseline Tests.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Q2. What skills are required for the target job?</a:t>
            </a:r>
          </a:p>
          <a:p>
            <a:pPr>
              <a:defRPr sz="1100">
                <a:solidFill>
                  <a:srgbClr val="4338CA"/>
                </a:solidFill>
              </a:defRPr>
            </a:pPr>
            <a:r>
              <a:t>Industry-benchmarked database mapped to active market demands.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Q3. What specific skills are missing or developing?</a:t>
            </a:r>
          </a:p>
          <a:p>
            <a:pPr>
              <a:defRPr sz="1100">
                <a:solidFill>
                  <a:srgbClr val="4338CA"/>
                </a:solidFill>
              </a:defRPr>
            </a:pPr>
            <a:r>
              <a:t>Weighted algorithmic gap engine calculating Job Readiness %.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Q4. What personalized sequence closes the gap?</a:t>
            </a:r>
          </a:p>
          <a:p>
            <a:pPr>
              <a:defRPr sz="1100">
                <a:solidFill>
                  <a:srgbClr val="4338CA"/>
                </a:solidFill>
              </a:defRPr>
            </a:pPr>
            <a:r>
              <a:t>Step-by-step chronological pathway with capstone projects.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Q5. Did the training actually improve skills &amp; outcomes?</a:t>
            </a:r>
          </a:p>
          <a:p>
            <a:pPr>
              <a:defRPr sz="1100">
                <a:solidFill>
                  <a:srgbClr val="4338CA"/>
                </a:solidFill>
              </a:defRPr>
            </a:pPr>
            <a:r>
              <a:t>Post-training standardized delta testing (+Δ%) &amp; career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SYSTEM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Solution: The Complete Skilling Value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Profile  ➔  NLP Extraction  ➔  Diagnostic Quiz  ➔  Skill Gap  ➔  Learning Path  ➔  Capstone  ➔  Post-Test (Δ%)  ➔  Job Placement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410712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1. NLP Resume &amp; JD Parsing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Automatically extracts technical skills, education, experience years, and specialization from unstructured text using a comprehensive canonical taxonomy with alias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331720"/>
            <a:ext cx="3410712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2. Weighted Skill Gap Engine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Categorizes requirements into Matched (🟢), Developing (🟡), and Missing (🔴). Calculates mathematically grounded Job Readiness % using industry skill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331720"/>
            <a:ext cx="3410712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3. Chronological Learning Pathway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Creates a structured step-by-step roadmap: Foundation Modules -&gt; Advanced Querying -&gt; End-to-End Capstone Project -&gt; Post-Training Assessment -&gt; Interview Prep.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3410712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4. Before &amp; After Delta Testing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Mandatory standardized assessments before and after training to prove tangible capability growth (+Δ percentage points) rather than relying on course attendance.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480560"/>
            <a:ext cx="3410712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5. Real-Time Job Matching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Directly connects trainees who meet the industry readiness threshold (&gt;=75%) to active job openings aligned with their verified skill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480560"/>
            <a:ext cx="3410712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6. Longitudinal Outcome Tracking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Captures post-training employment status, company, salary (LPA), time-to-employment, and verifies true career domain relevance.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METHODOLOGY &amp;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Architecture &amp; Transparent Impact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THE AUDIT-READY SKILLING IMPACT SCORE FORMULA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Impact Score = 0.35 × (ΔSkill Improvement %) + 0.25 × (Completion Rate %) + 0.25 × (Job Relevance %) + 0.15 × (Employment Rate %)</a:t>
            </a:r>
          </a:p>
          <a:p>
            <a:br/>
            <a:pPr>
              <a:defRPr sz="1050">
                <a:solidFill>
                  <a:srgbClr val="CBD5E1"/>
                </a:solidFill>
              </a:defRPr>
            </a:pPr>
            <a:r>
              <a:t>• 35% Skill Improvement: Validates genuine learning gains (post-score minus pre-score) across the cohort.</a:t>
            </a:r>
            <a:br/>
            <a:r>
              <a:t>• 25% Training Completion: Evaluates course retention and instructional efficacy.</a:t>
            </a:r>
            <a:br/>
            <a:r>
              <a:t>• 25% Job Relevance: Ensures trainees are employed in jobs matching their training domain (prevents underemployment inflation).</a:t>
            </a:r>
            <a:br/>
            <a:r>
              <a:t>• 15% Overall Employment: Measures net economic placement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3410712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Readiness Scoring Formula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Readiness % = [ Σ (weight_i * min(1.0, user_score_i / req_score_i)) / Σ weight_i ] * 100</a:t>
            </a:r>
            <a:br/>
            <a:r>
              <a:t>Provides smooth, non-linear matching accounting for skill difficulty and role priority.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74720"/>
            <a:ext cx="3410712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Standardized Question Bank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Curated diagnostic technical questions across Python, SQL, Excel, Statistics, Power BI, Web Dev, and ML. Automatic grading with explanations and proficiency tier assignment.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474720"/>
            <a:ext cx="3410712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Multi-Tier Role Hierarchy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Role database includes Data Analyst, ML Engineer, Web Developer, Backend Developer, Cybersecurity Analyst, and Cloud/DevOps with dynamic salary benchmarks.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INSTITUTIONAL EFFICACY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Multi-Tier Impact Portals &amp; Macro Policy Funnel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1460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STAGE 1: ENROLLED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10,000 Trainees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Total intake registered across vocational initiatives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80160"/>
            <a:ext cx="2514600" cy="210312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STAGE 2: COMPLETED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8,200 Trainees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82.0% Completion Rate with finished learning pathways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2514600" cy="2103120"/>
          </a:xfrm>
          <a:prstGeom prst="round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STAGE 3: SKILL IMPROVED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6,000 Trainees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73.2% Post-Test Verified (+34.5 pts average delta)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280160"/>
            <a:ext cx="2514600" cy="2103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STAGE 4: RELEVANT JOBS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3,500 Placed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58.3% Relevant Placement at ₹6.8 LPA average package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3410712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1. Student / Job Seeker Portal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AI Resume Parsing &amp; diagnostic skill baseline</a:t>
            </a:r>
            <a:br/>
            <a:r>
              <a:t>• Target Job Role selection &amp; radial readiness gauge</a:t>
            </a:r>
            <a:br/>
            <a:r>
              <a:t>• Personalized chronological curriculum</a:t>
            </a:r>
            <a:br/>
            <a:r>
              <a:t>• Active career openings matched by readiness</a:t>
            </a:r>
            <a:br/>
            <a:r>
              <a:t>• Post-training before/after score delta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566160"/>
            <a:ext cx="3410712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2. Training Provider Portal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Cohort tracking across active curricula</a:t>
            </a:r>
            <a:br/>
            <a:r>
              <a:t>• Completion rate &amp; assessment delta analytics</a:t>
            </a:r>
            <a:br/>
            <a:r>
              <a:t>• Course effectiveness &amp; drop-off detection</a:t>
            </a:r>
            <a:br/>
            <a:r>
              <a:t>• Direct employer pipeline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566160"/>
            <a:ext cx="3410712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3. Government / Policy Portal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Macro 4-Stage Trainee Funnel monitor</a:t>
            </a:r>
            <a:br/>
            <a:r>
              <a:t>• Institutional Skilling Impact Score (82.4)</a:t>
            </a:r>
            <a:br/>
            <a:r>
              <a:t>• Employment Rate &amp; Job Relevance benchmarking</a:t>
            </a:r>
            <a:br/>
            <a:r>
              <a:t>• Labor market skill frequency and salary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VALIDATION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Case Study: Rahul's Journey &amp; Technical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120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338CA"/>
                </a:solidFill>
              </a:defRPr>
            </a:pPr>
            <a:r>
              <a:t>Prototype Case Study: Rahul Sharma (B.Tech CSE)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Target Role: Data Analyst (Requires Python, SQL, Excel, Stats, Power BI)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Initial State: Python 65%, SQL 40%, Excel 30%, Power BI 10% ➔ Job Readiness: 48% (Developing)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AI Pathway: 7 Steps: SQL Fundamentals ➔ Advanced SQL ➔ Statistics ➔ Power BI Mastery ➔ Sales Dashboard Capstone ➔ Validation ➔ Interview Prep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Post-Training Validation: SQL 40% ➔ 78% (+38 pts), Excel 30% ➔ 85% (+55 pts), Power BI 10% ➔ 70% (+60 pts), Statistics 25% ➔ 72% (+47 pts)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Resulting Impact: Job Readiness surged to 82% (Industry Ready)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Verified Career Outcome: Employed as Junior Data Analyst at InfoMetrics Analytics (₹6.2 LPA, 2.8 months time-to-job, Relevant: YES)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338CA"/>
                </a:solidFill>
              </a:defRPr>
            </a:pPr>
            <a:r>
              <a:t>Production-Ready Technology Stack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FastAPI Backend:</a:t>
            </a:r>
          </a:p>
          <a:p>
            <a:pPr>
              <a:defRPr sz="1000">
                <a:solidFill>
                  <a:srgbClr val="4338CA"/>
                </a:solidFill>
              </a:defRPr>
            </a:pPr>
            <a:r>
              <a:t>High-throughput asynchronous REST API with automatic OpenAPI documentation and CORS support.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Lightweight Database:</a:t>
            </a:r>
          </a:p>
          <a:p>
            <a:pPr>
              <a:defRPr sz="1000">
                <a:solidFill>
                  <a:srgbClr val="4338CA"/>
                </a:solidFill>
              </a:defRPr>
            </a:pPr>
            <a:r>
              <a:t>SQLite / PostgreSQL schema storing relational users, assessments, courses, and verified outcomes.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NLP Skill Extraction:</a:t>
            </a:r>
          </a:p>
          <a:p>
            <a:pPr>
              <a:defRPr sz="1000">
                <a:solidFill>
                  <a:srgbClr val="4338CA"/>
                </a:solidFill>
              </a:defRPr>
            </a:pPr>
            <a:r>
              <a:t>Regex &amp; token n-gram parsing mapping unstructured resumes to canonical skill taxonomies.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Interactive Frontend:</a:t>
            </a:r>
          </a:p>
          <a:p>
            <a:pPr>
              <a:defRPr sz="1000">
                <a:solidFill>
                  <a:srgbClr val="4338CA"/>
                </a:solidFill>
              </a:defRPr>
            </a:pPr>
            <a:r>
              <a:t>Responsive glassmorphism UI with Tailwind CSS and Chart.js visualizations.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One-Click Local Launcher:</a:t>
            </a:r>
          </a:p>
          <a:p>
            <a:pPr>
              <a:defRPr sz="1000">
                <a:solidFill>
                  <a:srgbClr val="4338CA"/>
                </a:solidFill>
              </a:defRPr>
            </a:pPr>
            <a:r>
              <a:t>run.bat and run.py for instant localhost execution without complex configurations.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100% Automated Test Suite:</a:t>
            </a:r>
          </a:p>
          <a:p>
            <a:pPr>
              <a:defRPr sz="1000">
                <a:solidFill>
                  <a:srgbClr val="4338CA"/>
                </a:solidFill>
              </a:defRPr>
            </a:pPr>
            <a:r>
              <a:t>10 comprehensive unit &amp; integration tests validating scoring, NLP, pathways, and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